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8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0" y="914400"/>
            <a:ext cx="5029200" cy="512064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621792"/>
            <a:ext cx="1143000" cy="329184"/>
          </a:xfrm>
          <a:prstGeom prst="roundRect">
            <a:avLst/>
          </a:prstGeom>
          <a:solidFill>
            <a:srgbClr val="FA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1B2C54"/>
                </a:solidFill>
                <a:latin typeface="微软雅黑" panose="020B0503020204020204" charset="-122"/>
              </a:rPr>
              <a:t>答辩汇报</a:t>
            </a:r>
            <a:endParaRPr sz="11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6928" y="1143000"/>
            <a:ext cx="548640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>
                <a:solidFill>
                  <a:srgbClr val="1B2C54"/>
                </a:solidFill>
                <a:latin typeface="微软雅黑" panose="020B0503020204020204" charset="-122"/>
              </a:rPr>
              <a:t>面向果蔬智能采摘的动态目标定位与跟踪系统设计与实现</a:t>
            </a:r>
            <a:endParaRPr lang="zh-CN" altLang="en-US" sz="28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r>
              <a:rPr sz="1300" b="0">
                <a:solidFill>
                  <a:srgbClr val="6C7688"/>
                </a:solidFill>
                <a:latin typeface="微软雅黑" panose="020B0503020204020204" charset="-122"/>
              </a:rPr>
              <a:t>Fruit &amp; Vegetable Detection System</a:t>
            </a:r>
            <a:endParaRPr lang="en-US" altLang="zh-CN" sz="13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44043" y="4206240"/>
            <a:ext cx="49834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tIns="109728" rtlCol="0" anchor="ctr"/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2E394B"/>
                </a:solidFill>
                <a:latin typeface="微软雅黑" panose="020B0503020204020204" charset="-122"/>
              </a:rPr>
              <a:t>姓名：</a:t>
            </a:r>
            <a:r>
              <a:rPr lang="zh-CN" sz="2000" b="0">
                <a:solidFill>
                  <a:srgbClr val="2E394B"/>
                </a:solidFill>
                <a:latin typeface="微软雅黑" panose="020B0503020204020204" charset="-122"/>
              </a:rPr>
              <a:t>张帅</a:t>
            </a:r>
            <a:endParaRPr sz="20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E394B"/>
                </a:solidFill>
                <a:latin typeface="微软雅黑" panose="020B0503020204020204" charset="-122"/>
              </a:rPr>
              <a:t>学号：</a:t>
            </a:r>
            <a:r>
              <a:rPr lang="en-US" sz="2000" b="0">
                <a:solidFill>
                  <a:srgbClr val="2E394B"/>
                </a:solidFill>
                <a:latin typeface="微软雅黑" panose="020B0503020204020204" charset="-122"/>
              </a:rPr>
              <a:t>220224337</a:t>
            </a:r>
            <a:endParaRPr sz="20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E394B"/>
                </a:solidFill>
                <a:latin typeface="微软雅黑" panose="020B0503020204020204" charset="-122"/>
              </a:rPr>
              <a:t>导师：</a:t>
            </a:r>
            <a:r>
              <a:rPr lang="zh-CN" sz="2000" b="0">
                <a:solidFill>
                  <a:srgbClr val="2E394B"/>
                </a:solidFill>
                <a:latin typeface="微软雅黑" panose="020B0503020204020204" charset="-122"/>
              </a:rPr>
              <a:t>赵昀杰</a:t>
            </a:r>
            <a:endParaRPr sz="20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2E394B"/>
                </a:solidFill>
                <a:latin typeface="微软雅黑" panose="020B0503020204020204" charset="-122"/>
              </a:rPr>
              <a:t>日期：2026年04月21日</a:t>
            </a:r>
            <a:endParaRPr sz="2000" b="0">
              <a:solidFill>
                <a:srgbClr val="2E394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75488"/>
            <a:ext cx="841248" cy="420624"/>
          </a:xfrm>
          <a:prstGeom prst="roundRect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38912"/>
            <a:ext cx="6949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C54"/>
                </a:solidFill>
                <a:latin typeface="微软雅黑" panose="020B0503020204020204" charset="-122"/>
              </a:rPr>
              <a:t>目录</a:t>
            </a:r>
            <a:endParaRPr sz="26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4937760" cy="1234440"/>
          </a:xfrm>
          <a:prstGeom prst="round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48649"/>
                </a:solidFill>
                <a:latin typeface="微软雅黑" panose="020B0503020204020204" charset="-122"/>
              </a:rPr>
              <a:t>01</a:t>
            </a:r>
            <a:endParaRPr sz="1300" b="1">
              <a:solidFill>
                <a:srgbClr val="E48649"/>
              </a:solidFill>
              <a:latin typeface="微软雅黑" panose="020B0503020204020204" charset="-122"/>
            </a:endParaRPr>
          </a:p>
          <a:p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研究背景与目标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4937760" cy="1234440"/>
          </a:xfrm>
          <a:prstGeom prst="roundRect">
            <a:avLst/>
          </a:prstGeom>
          <a:solidFill>
            <a:srgbClr val="FA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48649"/>
                </a:solidFill>
                <a:latin typeface="微软雅黑" panose="020B0503020204020204" charset="-122"/>
              </a:rPr>
              <a:t>02</a:t>
            </a:r>
            <a:endParaRPr sz="1300" b="1">
              <a:solidFill>
                <a:srgbClr val="E48649"/>
              </a:solidFill>
              <a:latin typeface="微软雅黑" panose="020B0503020204020204" charset="-122"/>
            </a:endParaRPr>
          </a:p>
          <a:p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系统设计与方法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3337560"/>
            <a:ext cx="4937760" cy="1234440"/>
          </a:xfrm>
          <a:prstGeom prst="roundRect">
            <a:avLst/>
          </a:prstGeom>
          <a:solidFill>
            <a:srgbClr val="E4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48649"/>
                </a:solidFill>
                <a:latin typeface="微软雅黑" panose="020B0503020204020204" charset="-122"/>
              </a:rPr>
              <a:t>03</a:t>
            </a:r>
            <a:endParaRPr sz="1300" b="1">
              <a:solidFill>
                <a:srgbClr val="E48649"/>
              </a:solidFill>
              <a:latin typeface="微软雅黑" panose="020B0503020204020204" charset="-122"/>
            </a:endParaRPr>
          </a:p>
          <a:p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核心实现与效果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17920" y="3337560"/>
            <a:ext cx="4937760" cy="1234440"/>
          </a:xfrm>
          <a:prstGeom prst="roundRect">
            <a:avLst/>
          </a:prstGeom>
          <a:solidFill>
            <a:srgbClr val="FCE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E48649"/>
                </a:solidFill>
                <a:latin typeface="微软雅黑" panose="020B0503020204020204" charset="-122"/>
              </a:rPr>
              <a:t>04</a:t>
            </a:r>
            <a:endParaRPr sz="1300" b="1">
              <a:solidFill>
                <a:srgbClr val="E48649"/>
              </a:solidFill>
              <a:latin typeface="微软雅黑" panose="020B0503020204020204" charset="-122"/>
            </a:endParaRPr>
          </a:p>
          <a:p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结论与展望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75488"/>
            <a:ext cx="841248" cy="420624"/>
          </a:xfrm>
          <a:prstGeom prst="roundRect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38912"/>
            <a:ext cx="6949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C54"/>
                </a:solidFill>
                <a:latin typeface="微软雅黑" panose="020B0503020204020204" charset="-122"/>
              </a:rPr>
              <a:t>研究背景与问题</a:t>
            </a:r>
            <a:endParaRPr sz="26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94360" y="1371600"/>
            <a:ext cx="3840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rtlCol="0" anchor="ctr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人工分拣成本高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果蔬外观差异大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视频场景更难处理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目标是做可用系统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754880" y="1572768"/>
            <a:ext cx="1965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2C54"/>
                </a:solidFill>
                <a:latin typeface="微软雅黑" panose="020B0503020204020204" charset="-122"/>
              </a:rPr>
              <a:t>人工环节</a:t>
            </a:r>
            <a:endParaRPr sz="16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sz="1100" b="0">
                <a:solidFill>
                  <a:srgbClr val="6C7688"/>
                </a:solidFill>
                <a:latin typeface="微软雅黑" panose="020B0503020204020204" charset="-122"/>
              </a:rPr>
              <a:t>效率受人工影响</a:t>
            </a:r>
            <a:endParaRPr sz="11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315200" y="1572768"/>
            <a:ext cx="1965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2C54"/>
                </a:solidFill>
                <a:latin typeface="微软雅黑" panose="020B0503020204020204" charset="-122"/>
              </a:rPr>
              <a:t>场景复杂</a:t>
            </a:r>
            <a:endParaRPr sz="16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sz="1100" b="0">
                <a:solidFill>
                  <a:srgbClr val="6C7688"/>
                </a:solidFill>
                <a:latin typeface="微软雅黑" panose="020B0503020204020204" charset="-122"/>
              </a:rPr>
              <a:t>遮挡与光照变化大</a:t>
            </a:r>
            <a:endParaRPr sz="11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875520" y="1572768"/>
            <a:ext cx="1965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1B2C54"/>
                </a:solidFill>
                <a:latin typeface="微软雅黑" panose="020B0503020204020204" charset="-122"/>
              </a:rPr>
              <a:t>实时需求</a:t>
            </a:r>
            <a:endParaRPr sz="16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sz="1100" b="0">
                <a:solidFill>
                  <a:srgbClr val="6C7688"/>
                </a:solidFill>
                <a:latin typeface="微软雅黑" panose="020B0503020204020204" charset="-122"/>
              </a:rPr>
              <a:t>视频更考验速度</a:t>
            </a:r>
            <a:endParaRPr sz="11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4754880" y="3383280"/>
            <a:ext cx="7086600" cy="1143000"/>
          </a:xfrm>
          <a:prstGeom prst="roundRect">
            <a:avLst/>
          </a:prstGeom>
          <a:solidFill>
            <a:srgbClr val="E4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1B2C54"/>
                </a:solidFill>
                <a:latin typeface="微软雅黑" panose="020B0503020204020204" charset="-122"/>
              </a:rPr>
              <a:t>研究聚焦：把识别模型接入完整系统，覆盖图片、视频、摄像头三类使用场景。</a:t>
            </a:r>
            <a:endParaRPr sz="18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75488"/>
            <a:ext cx="841248" cy="420624"/>
          </a:xfrm>
          <a:prstGeom prst="roundRect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04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38912"/>
            <a:ext cx="6949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C54"/>
                </a:solidFill>
                <a:latin typeface="微软雅黑" panose="020B0503020204020204" charset="-122"/>
              </a:rPr>
              <a:t>研究思路与方法</a:t>
            </a:r>
            <a:endParaRPr sz="26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627632"/>
            <a:ext cx="1920240" cy="1143000"/>
          </a:xfrm>
          <a:prstGeom prst="round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2C54"/>
                </a:solidFill>
                <a:latin typeface="微软雅黑" panose="020B0503020204020204" charset="-122"/>
              </a:rPr>
              <a:t>输入采集</a:t>
            </a:r>
            <a:endParaRPr sz="17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图片 / 视频 / 摄像头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6" name="Chevron 5"/>
          <p:cNvSpPr/>
          <p:nvPr/>
        </p:nvSpPr>
        <p:spPr>
          <a:xfrm>
            <a:off x="2596896" y="1993392"/>
            <a:ext cx="201168" cy="365760"/>
          </a:xfrm>
          <a:prstGeom prst="chevron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98648" y="1627632"/>
            <a:ext cx="1920240" cy="1143000"/>
          </a:xfrm>
          <a:prstGeom prst="roundRect">
            <a:avLst/>
          </a:prstGeom>
          <a:solidFill>
            <a:srgbClr val="FA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2C54"/>
                </a:solidFill>
                <a:latin typeface="微软雅黑" panose="020B0503020204020204" charset="-122"/>
              </a:rPr>
              <a:t>目标检测</a:t>
            </a:r>
            <a:endParaRPr sz="17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lang="zh-CN" sz="1000" b="0">
                <a:solidFill>
                  <a:srgbClr val="6C7688"/>
                </a:solidFill>
                <a:latin typeface="微软雅黑" panose="020B0503020204020204" charset="-122"/>
              </a:rPr>
              <a:t>模型</a:t>
            </a:r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推理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8" name="Chevron 7"/>
          <p:cNvSpPr/>
          <p:nvPr/>
        </p:nvSpPr>
        <p:spPr>
          <a:xfrm>
            <a:off x="4837176" y="1993392"/>
            <a:ext cx="201168" cy="365760"/>
          </a:xfrm>
          <a:prstGeom prst="chevron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38928" y="1627632"/>
            <a:ext cx="1920240" cy="1143000"/>
          </a:xfrm>
          <a:prstGeom prst="roundRect">
            <a:avLst/>
          </a:prstGeom>
          <a:solidFill>
            <a:srgbClr val="E4F2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2C54"/>
                </a:solidFill>
                <a:latin typeface="微软雅黑" panose="020B0503020204020204" charset="-122"/>
              </a:rPr>
              <a:t>目标跟踪</a:t>
            </a:r>
            <a:endParaRPr sz="17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DeepSORT / IoU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10" name="Chevron 9"/>
          <p:cNvSpPr/>
          <p:nvPr/>
        </p:nvSpPr>
        <p:spPr>
          <a:xfrm>
            <a:off x="7077456" y="1993392"/>
            <a:ext cx="201168" cy="365760"/>
          </a:xfrm>
          <a:prstGeom prst="chevron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79208" y="1627632"/>
            <a:ext cx="1920240" cy="1143000"/>
          </a:xfrm>
          <a:prstGeom prst="round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2C54"/>
                </a:solidFill>
                <a:latin typeface="微软雅黑" panose="020B0503020204020204" charset="-122"/>
              </a:rPr>
              <a:t>结果输出</a:t>
            </a:r>
            <a:endParaRPr sz="17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框选 / 轨迹 / 视频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12" name="Chevron 11"/>
          <p:cNvSpPr/>
          <p:nvPr/>
        </p:nvSpPr>
        <p:spPr>
          <a:xfrm>
            <a:off x="9317736" y="1993392"/>
            <a:ext cx="201168" cy="365760"/>
          </a:xfrm>
          <a:prstGeom prst="chevron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19488" y="1627632"/>
            <a:ext cx="1920240" cy="1143000"/>
          </a:xfrm>
          <a:prstGeom prst="roundRect">
            <a:avLst/>
          </a:prstGeom>
          <a:solidFill>
            <a:srgbClr val="FAEBD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1B2C54"/>
                </a:solidFill>
                <a:latin typeface="微软雅黑" panose="020B0503020204020204" charset="-122"/>
              </a:rPr>
              <a:t>记录管理</a:t>
            </a:r>
            <a:endParaRPr sz="17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ctr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SQLite 持久化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58368" y="3246120"/>
            <a:ext cx="3931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rtlCol="0" anchor="ctr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前后端分离架构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YOLO负责目标检测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DeepSORT负责跟踪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SQLite保存记录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892040" y="3246120"/>
            <a:ext cx="6839712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tlCol="0" anchor="ctr"/>
          <a:lstStyle/>
          <a:p>
            <a:pPr algn="ctr"/>
            <a:r>
              <a:rPr sz="1800" b="1">
                <a:solidFill>
                  <a:srgbClr val="1B2C54"/>
                </a:solidFill>
                <a:latin typeface="微软雅黑" panose="020B0503020204020204" charset="-122"/>
              </a:rPr>
              <a:t>核心实现思路</a:t>
            </a:r>
            <a:endParaRPr sz="18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E394B"/>
                </a:solidFill>
                <a:latin typeface="微软雅黑" panose="020B0503020204020204" charset="-122"/>
              </a:rPr>
              <a:t>· 前端使用 Vue3 + Vite，后端使用 FastAPI。</a:t>
            </a:r>
            <a:endParaRPr sz="14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E394B"/>
                </a:solidFill>
                <a:latin typeface="微软雅黑" panose="020B0503020204020204" charset="-122"/>
              </a:rPr>
              <a:t>· 目标检测与 API 解耦，便于替换新权重或新模型。</a:t>
            </a:r>
            <a:endParaRPr sz="14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>
              <a:spcAft>
                <a:spcPts val="600"/>
              </a:spcAft>
            </a:pPr>
            <a:r>
              <a:rPr sz="1400" b="0">
                <a:solidFill>
                  <a:srgbClr val="2E394B"/>
                </a:solidFill>
                <a:latin typeface="微软雅黑" panose="020B0503020204020204" charset="-122"/>
              </a:rPr>
              <a:t>· 视频端加入轨迹补全与关键帧输出，增强展示效果。</a:t>
            </a:r>
            <a:endParaRPr sz="1400" b="0">
              <a:solidFill>
                <a:srgbClr val="2E394B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75488"/>
            <a:ext cx="841248" cy="420624"/>
          </a:xfrm>
          <a:prstGeom prst="roundRect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05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38912"/>
            <a:ext cx="6949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C54"/>
                </a:solidFill>
                <a:latin typeface="微软雅黑" panose="020B0503020204020204" charset="-122"/>
              </a:rPr>
              <a:t>核心研究内容1：图片识别模块</a:t>
            </a:r>
            <a:endParaRPr sz="26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21792" y="1426464"/>
            <a:ext cx="3767328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rtlCol="0" anchor="ctr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支持单图上传识别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输出框选与类别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结果自动保存入库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最新样例识别6框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21792" y="4572000"/>
            <a:ext cx="1783080" cy="804672"/>
          </a:xfrm>
          <a:prstGeom prst="roundRect">
            <a:avLst/>
          </a:prstGeom>
          <a:solidFill>
            <a:srgbClr val="EBF2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6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当前样例识别框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560320" y="4572000"/>
            <a:ext cx="1828800" cy="804672"/>
          </a:xfrm>
          <a:prstGeom prst="roundRect">
            <a:avLst/>
          </a:prstGeom>
          <a:solidFill>
            <a:srgbClr val="FAEBD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类别+置信度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直接叠加可视化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681728" y="1280160"/>
            <a:ext cx="7040880" cy="406908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353312"/>
            <a:ext cx="6894576" cy="3886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809744" y="5038344"/>
            <a:ext cx="67848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C7688"/>
                </a:solidFill>
                <a:latin typeface="微软雅黑" panose="020B0503020204020204" charset="-122"/>
              </a:rPr>
              <a:t>图：最新图片识别结果</a:t>
            </a:r>
            <a:endParaRPr sz="9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2920" y="5669280"/>
            <a:ext cx="11064240" cy="457200"/>
          </a:xfrm>
          <a:prstGeom prst="roundRect">
            <a:avLst/>
          </a:prstGeom>
          <a:solidFill>
            <a:srgbClr val="EBF2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0">
                <a:solidFill>
                  <a:srgbClr val="6C7688"/>
                </a:solidFill>
                <a:latin typeface="微软雅黑" panose="020B0503020204020204" charset="-122"/>
              </a:rPr>
              <a:t>备注：这一页重点看识别结果图，先说能识别，再说会输出类别、置信度和标注结果。</a:t>
            </a:r>
            <a:endParaRPr sz="11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75488"/>
            <a:ext cx="841248" cy="420624"/>
          </a:xfrm>
          <a:prstGeom prst="roundRect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06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38912"/>
            <a:ext cx="6949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C54"/>
                </a:solidFill>
                <a:latin typeface="微软雅黑" panose="020B0503020204020204" charset="-122"/>
              </a:rPr>
              <a:t>核心研究内容2：视频与跟踪模块</a:t>
            </a:r>
            <a:endParaRPr sz="26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58368" y="1325880"/>
            <a:ext cx="475488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atest_video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19" y="1399032"/>
            <a:ext cx="4608576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" y="5175504"/>
            <a:ext cx="44988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0">
                <a:solidFill>
                  <a:srgbClr val="6C7688"/>
                </a:solidFill>
                <a:latin typeface="微软雅黑" panose="020B0503020204020204" charset="-122"/>
              </a:rPr>
              <a:t>图：最新视频关键帧结果</a:t>
            </a:r>
            <a:endParaRPr sz="9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715000" y="1444752"/>
            <a:ext cx="2423160" cy="896112"/>
          </a:xfrm>
          <a:prstGeom prst="roundRect">
            <a:avLst/>
          </a:prstGeom>
          <a:solidFill>
            <a:srgbClr val="EBF2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720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总帧数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8229600" y="1444752"/>
            <a:ext cx="2423160" cy="896112"/>
          </a:xfrm>
          <a:prstGeom prst="roundRect">
            <a:avLst/>
          </a:prstGeom>
          <a:solidFill>
            <a:srgbClr val="FAEBD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360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采样帧数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715000" y="2514600"/>
            <a:ext cx="2423160" cy="896112"/>
          </a:xfrm>
          <a:prstGeom prst="roundRect">
            <a:avLst/>
          </a:prstGeom>
          <a:solidFill>
            <a:srgbClr val="E4F2E6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3468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检测次数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229600" y="2514600"/>
            <a:ext cx="2423160" cy="896112"/>
          </a:xfrm>
          <a:prstGeom prst="roundRect">
            <a:avLst/>
          </a:prstGeom>
          <a:solidFill>
            <a:srgbClr val="EBF2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15.17 FPS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pPr algn="l"/>
            <a:r>
              <a:rPr sz="1000" b="0">
                <a:solidFill>
                  <a:srgbClr val="6C7688"/>
                </a:solidFill>
                <a:latin typeface="微软雅黑" panose="020B0503020204020204" charset="-122"/>
              </a:rPr>
              <a:t>整体处理速度</a:t>
            </a:r>
            <a:endParaRPr sz="10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5715000" y="3803522"/>
            <a:ext cx="4937760" cy="1572768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28016" rIns="164592" rtlCol="0" anchor="ctr"/>
          <a:lstStyle/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视频按间隔抽帧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支持轨迹连续绘制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样例720帧用47.5秒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  <a:p>
            <a:pPr algn="l">
              <a:spcAft>
                <a:spcPts val="1000"/>
              </a:spcAft>
            </a:pPr>
            <a:r>
              <a:rPr sz="2200" b="0">
                <a:solidFill>
                  <a:srgbClr val="2E394B"/>
                </a:solidFill>
                <a:latin typeface="微软雅黑" panose="020B0503020204020204" charset="-122"/>
              </a:rPr>
              <a:t>· 处理速度15.17FPS</a:t>
            </a:r>
            <a:endParaRPr sz="2200" b="0">
              <a:solidFill>
                <a:srgbClr val="2E394B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502920" y="5669280"/>
            <a:ext cx="11064240" cy="457200"/>
          </a:xfrm>
          <a:prstGeom prst="roundRect">
            <a:avLst/>
          </a:prstGeom>
          <a:solidFill>
            <a:srgbClr val="EBF2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0">
                <a:solidFill>
                  <a:srgbClr val="6C7688"/>
                </a:solidFill>
                <a:latin typeface="微软雅黑" panose="020B0503020204020204" charset="-122"/>
              </a:rPr>
              <a:t>备注：先报结论，系统能处理长视频并输出轨迹；再补充抽帧策略是为了平衡速度和效果。</a:t>
            </a:r>
            <a:endParaRPr sz="11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12700"/>
            <a:ext cx="12168505" cy="68700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219327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75488"/>
            <a:ext cx="841248" cy="420624"/>
          </a:xfrm>
          <a:prstGeom prst="roundRect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08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38912"/>
            <a:ext cx="6949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C54"/>
                </a:solidFill>
                <a:latin typeface="微软雅黑" panose="020B0503020204020204" charset="-122"/>
              </a:rPr>
              <a:t>研究结论</a:t>
            </a:r>
            <a:endParaRPr sz="26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10972800" cy="822960"/>
          </a:xfrm>
          <a:prstGeom prst="roundRect">
            <a:avLst/>
          </a:prstGeom>
          <a:solidFill>
            <a:srgbClr val="EBF2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1B2C54"/>
                </a:solidFill>
                <a:latin typeface="微软雅黑" panose="020B0503020204020204" charset="-122"/>
              </a:rPr>
              <a:t>结论先行：系统已经跑通“检测 - 跟踪 - 可视化 - 存储”完整闭环。</a:t>
            </a:r>
            <a:endParaRPr sz="22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" y="246888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2C54"/>
                </a:solidFill>
                <a:latin typeface="微软雅黑" panose="020B0503020204020204" charset="-122"/>
              </a:rPr>
              <a:t>跑通识别全流程</a:t>
            </a:r>
            <a:endParaRPr sz="20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126480" y="2468880"/>
            <a:ext cx="4572000" cy="1097280"/>
          </a:xfrm>
          <a:prstGeom prst="roundRect">
            <a:avLst/>
          </a:prstGeom>
          <a:solidFill>
            <a:srgbClr val="FAEBD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2C54"/>
                </a:solidFill>
                <a:latin typeface="微软雅黑" panose="020B0503020204020204" charset="-122"/>
              </a:rPr>
              <a:t>实现检测跟踪联动</a:t>
            </a:r>
            <a:endParaRPr sz="20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68680" y="4023360"/>
            <a:ext cx="4572000" cy="1097280"/>
          </a:xfrm>
          <a:prstGeom prst="roundRect">
            <a:avLst/>
          </a:prstGeom>
          <a:solidFill>
            <a:srgbClr val="E4F2E6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2C54"/>
                </a:solidFill>
                <a:latin typeface="微软雅黑" panose="020B0503020204020204" charset="-122"/>
              </a:rPr>
              <a:t>具备部署与扩展性</a:t>
            </a:r>
            <a:endParaRPr sz="20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126480" y="4023360"/>
            <a:ext cx="45720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1B2C54"/>
                </a:solidFill>
                <a:latin typeface="微软雅黑" panose="020B0503020204020204" charset="-122"/>
              </a:rPr>
              <a:t>后续实验框架已留</a:t>
            </a:r>
            <a:endParaRPr sz="20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502920" y="5669280"/>
            <a:ext cx="11064240" cy="457200"/>
          </a:xfrm>
          <a:prstGeom prst="roundRect">
            <a:avLst/>
          </a:prstGeom>
          <a:solidFill>
            <a:srgbClr val="EBF2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0">
                <a:solidFill>
                  <a:srgbClr val="6C7688"/>
                </a:solidFill>
                <a:latin typeface="微软雅黑" panose="020B0503020204020204" charset="-122"/>
              </a:rPr>
              <a:t>备注：结论页只保留最强的四点，口头上再补一句：系统已具备继续做模型优化的基础。</a:t>
            </a:r>
            <a:endParaRPr sz="11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"/>
          </a:xfrm>
          <a:prstGeom prst="rect">
            <a:avLst/>
          </a:prstGeom>
          <a:solidFill>
            <a:srgbClr val="1B2C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11480" y="475488"/>
            <a:ext cx="841248" cy="420624"/>
          </a:xfrm>
          <a:prstGeom prst="roundRect">
            <a:avLst/>
          </a:prstGeom>
          <a:solidFill>
            <a:srgbClr val="E486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 panose="020B0503020204020204" charset="-122"/>
              </a:rPr>
              <a:t>10</a:t>
            </a:r>
            <a:endParaRPr sz="20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17320" y="438912"/>
            <a:ext cx="694944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B2C54"/>
                </a:solidFill>
                <a:latin typeface="微软雅黑" panose="020B0503020204020204" charset="-122"/>
              </a:rPr>
              <a:t>致谢</a:t>
            </a:r>
            <a:endParaRPr sz="2600" b="1">
              <a:solidFill>
                <a:srgbClr val="1B2C54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107899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ver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1481328"/>
            <a:ext cx="4023360" cy="39776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97280" y="1874519"/>
            <a:ext cx="539496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B2C54"/>
                </a:solidFill>
                <a:latin typeface="微软雅黑" panose="020B0503020204020204" charset="-122"/>
              </a:rPr>
              <a:t>谢 谢</a:t>
            </a:r>
            <a:endParaRPr sz="3400" b="1">
              <a:solidFill>
                <a:srgbClr val="1B2C54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6C7688"/>
                </a:solidFill>
                <a:latin typeface="微软雅黑" panose="020B0503020204020204" charset="-122"/>
              </a:rPr>
              <a:t>感谢各位老师聆听</a:t>
            </a:r>
            <a:endParaRPr sz="1800" b="0">
              <a:solidFill>
                <a:srgbClr val="6C7688"/>
              </a:solidFill>
              <a:latin typeface="微软雅黑" panose="020B0503020204020204" charset="-122"/>
            </a:endParaRPr>
          </a:p>
          <a:p>
            <a:r>
              <a:rPr sz="1800" b="0">
                <a:solidFill>
                  <a:srgbClr val="E48649"/>
                </a:solidFill>
                <a:latin typeface="微软雅黑" panose="020B0503020204020204" charset="-122"/>
              </a:rPr>
              <a:t>恳请批评指正</a:t>
            </a:r>
            <a:endParaRPr sz="1800" b="0">
              <a:solidFill>
                <a:srgbClr val="E48649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02920" y="5669280"/>
            <a:ext cx="11064240" cy="457200"/>
          </a:xfrm>
          <a:prstGeom prst="roundRect">
            <a:avLst/>
          </a:prstGeom>
          <a:solidFill>
            <a:srgbClr val="EBF2FC"/>
          </a:solidFill>
          <a:ln>
            <a:solidFill>
              <a:srgbClr val="D9DF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0">
                <a:solidFill>
                  <a:srgbClr val="6C7688"/>
                </a:solidFill>
                <a:latin typeface="微软雅黑" panose="020B0503020204020204" charset="-122"/>
              </a:rPr>
              <a:t>备注：最后一句就够：汇报结束，恳请各位老师批评指正。</a:t>
            </a:r>
            <a:endParaRPr sz="1100" b="0">
              <a:solidFill>
                <a:srgbClr val="6C7688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907</Words>
  <Application>WPS 演示</Application>
  <PresentationFormat>On-screen Show (4:3)</PresentationFormat>
  <Paragraphs>145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JOJO</cp:lastModifiedBy>
  <cp:revision>3</cp:revision>
  <dcterms:created xsi:type="dcterms:W3CDTF">2013-01-27T09:14:00Z</dcterms:created>
  <dcterms:modified xsi:type="dcterms:W3CDTF">2026-04-22T05:51:03Z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B24A6205FA7B4F8E84BF370B6E5D894D_12</vt:lpwstr>
  </property>
  <property fmtid="{D5CDD505-2E9C-101B-9397-08002B2CF9AE}" pid="3" name="KSOProductBuildVer">
    <vt:lpwstr>2052-12.1.0.25865</vt:lpwstr>
  </property>
</Properties>
</file>